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59" r:id="rId5"/>
    <p:sldId id="260" r:id="rId6"/>
    <p:sldId id="263" r:id="rId7"/>
    <p:sldId id="267" r:id="rId8"/>
    <p:sldId id="268" r:id="rId9"/>
    <p:sldId id="272" r:id="rId10"/>
    <p:sldId id="273" r:id="rId11"/>
    <p:sldId id="269" r:id="rId12"/>
    <p:sldId id="261" r:id="rId13"/>
    <p:sldId id="262" r:id="rId14"/>
    <p:sldId id="264" r:id="rId15"/>
    <p:sldId id="265" r:id="rId16"/>
    <p:sldId id="266" r:id="rId17"/>
    <p:sldId id="274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77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who I am, still at Tesla, and we're hiring (link at the end).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44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 OS only needs to run Docker. PHP, MariaDB, nginx versions are per-site and live in images, so the 10/21 fix becomes a PHP_VERSION bump +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6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06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pins PHP 8.4 / MariaDB 11.8 to match the DDEV config — see docs/local-dev-ddev.md.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8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prm is plain bash with no dependencies beyond docker + openssl. Also: prm blog backup / restore, prm blog drush ..., prm 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26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FF18-F4E2-B309-81AD-D19C8AE1B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0FE06-6130-E754-8BFA-FFE9F337A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6EF46-B113-E37B-79BD-52AEAD6E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791D0-D050-4081-9322-455B8DE19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3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o7wp0DWPP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RIldVYCVG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ppieesq/prometheu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tesla.com/careers" TargetMode="External"/><Relationship Id="rId4" Type="http://schemas.openxmlformats.org/officeDocument/2006/relationships/hyperlink" Target="https://www.drupal.org/u/kopp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DRUPAL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11887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BADCAMP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164592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/>
              <a:t>Kubernetes for Drupal Devs</a:t>
            </a:r>
          </a:p>
        </p:txBody>
      </p:sp>
      <p:sp>
        <p:nvSpPr>
          <p:cNvPr id="7" name="Shape 5"/>
          <p:cNvSpPr/>
          <p:nvPr/>
        </p:nvSpPr>
        <p:spPr>
          <a:xfrm>
            <a:off x="2651760" y="297180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59" y="3246120"/>
            <a:ext cx="88188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Drupal hosting, so the next PHP security fix takes minutes instead of a day.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4572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Koplowicz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9052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Kubernetes?</a:t>
            </a:r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PHP security outage of October 21</a:t>
            </a:r>
            <a:endParaRPr lang="en-US" sz="20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Dockerfiles</a:t>
            </a: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local dev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what about DDEV &amp; Lando?</a:t>
            </a:r>
            <a:endParaRPr lang="en-US" sz="20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considerations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database &amp; persistent storage</a:t>
            </a:r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</a:t>
            </a:r>
            <a:endParaRPr lang="en-US" sz="20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new architecture</a:t>
            </a:r>
            <a:endParaRPr lang="en-US" sz="20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could go wrong?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30-SECOND 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Kubernetes?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9052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orchestrator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 runs your Docker containers, decides where they live, and keeps them alive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originally from Google, now the industry standard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automatically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more traffic? Kubernetes spins up more copies of your app</a:t>
            </a:r>
            <a:endParaRPr lang="en-US" sz="2000" dirty="0"/>
          </a:p>
          <a:p>
            <a:pPr marL="736600" lvl="1" indent="-2794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vs. vertical scaling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crashed container? It restarts it without you lifting a finger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5166360"/>
            <a:ext cx="64008" cy="7315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5166360"/>
            <a:ext cx="8869680" cy="73152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Docker is like a shipping container, Kubernetes is the port authority managing thousands of them.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SOMETHING NEW?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October 21, 2026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9052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PHP security fix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shipped, and lots of sites went offline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old VPS couldn't take the patch: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Ubuntu release didn't support the newer PHP version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spent all day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migrating the whole VPS to a newer Ubuntu, just to apply one security fix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problem:</a:t>
            </a: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OS, PHP, and every site on the box were welded together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5166360"/>
            <a:ext cx="64008" cy="7315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5166360"/>
            <a:ext cx="8869680" cy="73152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 PHP shouldn't mean upgrading the operating system.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2011680"/>
            <a:ext cx="9052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Surely there's an </a:t>
            </a:r>
          </a:p>
          <a:p>
            <a:pPr marL="0" indent="0">
              <a:buNone/>
            </a:pPr>
            <a:r>
              <a:rPr lang="en-US" sz="5400" dirty="0">
                <a:solidFill>
                  <a:srgbClr val="FF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easier way?</a:t>
            </a:r>
            <a:endParaRPr 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LAYERS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Drupal Dockerfile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8463271" cy="2205736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php:8.3-fpm-alpine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docker-php-ext-install pdo pdo_mysql opcache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--from=composer:latest /usr/bin/composer /usr/bin/composer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/var/www/html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/var/www/html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9000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["/usr/bin/supervisord", "-c", "/etc/supervisor/conf.d/app.conf"]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CONSIDERATIONS · 1 OF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(MySQL)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STACK (CONTAINER / POD)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EXTERNALLY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251460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default: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MariaDB container per site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independent upgrades, no shared blast radius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backups: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prm blog backup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failover, tuning, and upgrades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lives on the VPS disk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back it up off-box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MySQL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DigitalOcean, RDS, Cloud SQL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backups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failover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rebuilding or replacing the VPS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more;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network latency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point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settings.php at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51760" y="5394960"/>
            <a:ext cx="64008" cy="7772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5394960"/>
            <a:ext cx="8869680" cy="77724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the stack. Move out when the data matters more than the money.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CONSIDERATIONS · 2 OF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Persistent Storage (NFS)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STACK (CONTAINER / POD)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EXTERNALLY (NFS)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251460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mount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sites/&lt;name&gt;/files on local disk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writable path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app code is mounted read-only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fast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one host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can't share files/ across servers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NFS share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mounted into every container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hosts / replicas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one files/ directory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host replacement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point of failure, slower, locking quirks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S3 + the s3fs module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51760" y="5394960"/>
            <a:ext cx="64008" cy="7772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5394960"/>
            <a:ext cx="8869680" cy="77724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</a:t>
            </a: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state you move off the box, the more disposable the VPS becomes, and the next upgrade is a rebuild instead of a migration.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There’s a service for that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Deploying to a Kubernetes Service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3383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DOKS cluster + a container registry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push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bake your code into the image (no bind mounts in k8s); build for amd64, even on Apple Silicon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let the cluster pull from your registry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+ TLS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Traefik &amp; cert-manager from the 1-Click marketplace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apply your manifests; restart to roll out a new 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965960"/>
            <a:ext cx="5486400" cy="420624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cluster + registry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kubernetes cluster create drupal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--region sfo3 --count 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registry create my-registry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every release: build for amd64, push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buildx build --platform linux/amd64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-t registry.digitalocean.com/my-registry/drupal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--push 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once: let the cluster pull images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kubernetes cluster registry add drupal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once: ingress + TLS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kubernetes 1-click install drupal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--1-clicks traefik,cert-manager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ship 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 -f k8s/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</a:t>
            </a: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rollout restart deployment/drupal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Managed Kubernetes Compared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5349240"/>
            <a:ext cx="64008" cy="54864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5349240"/>
            <a:ext cx="8869680" cy="54864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Drupal scale, a $73/mo control-plane fee can cost more than your nodes.</a:t>
            </a:r>
          </a:p>
        </p:txBody>
      </p:sp>
      <p:graphicFrame>
        <p:nvGraphicFramePr>
          <p:cNvPr id="16" name="Provider comparison"/>
          <p:cNvGraphicFramePr>
            <a:graphicFrameLocks noGrp="1"/>
          </p:cNvGraphicFramePr>
          <p:nvPr/>
        </p:nvGraphicFramePr>
        <p:xfrm>
          <a:off x="2651760" y="1965960"/>
          <a:ext cx="9052560" cy="3284728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PROVIDER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CONTROL PLANE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GOOD FOR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WATCH OUT FOR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DigitalOcean DOKS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Free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HA control plane: $40/mo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Cheap, simple, predictable bills; nodes from $12/mo; registry + managed MySQL built in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Fewer regions and managed services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AWS EKS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$0.10/hr ≈ $73/mo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$0.60/hr on extended support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The enterprise default; deepest ecosystem (RDS, EFS, S3)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Complexity (IAM, VPC); NAT, load balancer &amp; egress costs add up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Google GKE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$0.10/hr ≈ $73/mo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Free tier covers one zonal or Autopilot cluster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Most polished Kubernetes (Google created it); Autopilot bills per pod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Bills are harder to predict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Azure AKS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Free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No SLA; Standard tier ≈ $73/mo with SLA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Microsoft shops; Entra ID; AKS Automatic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Steeper learning curve outside the Microsoft world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Akamai (Linode) LKE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Free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HA control plane: $60/mo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DO-style pricing and simplicity, on Akamai's network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Smaller managed-service catalog</a:t>
                      </a:r>
                    </a:p>
                  </a:txBody>
                  <a:tcPr marT="64008" marB="6400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201168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Time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651760" y="3657600"/>
            <a:ext cx="64008" cy="7315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3657600"/>
            <a:ext cx="6217920" cy="73152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600" dirty="0"/>
              <a:t>Recording: </a:t>
            </a:r>
            <a:r>
              <a:rPr lang="en-US" sz="1600" dirty="0">
                <a:hlinkClick r:id="rId3"/>
              </a:rPr>
              <a:t>https://www.youtube.com/watch?v=qo7wp0DWPPI</a:t>
            </a:r>
            <a:r>
              <a:rPr lang="en-US" sz="16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Stealing fire from Pantheon*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Prometheus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9052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lives in the image, not the OS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upgrading PHP means changing PHP_VERSION and rebuilding, not migrating the server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container per process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nginx, php-fpm, MariaDB (+ optional valkey, cron, websocket)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Caddy edge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owns ports 80/443: automatic TLS, HTTP/3, compression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 is isolated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its own stack, with memory limits so a noisy neighbour can't take the box down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versions as DDEV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local dev matches production</a:t>
            </a:r>
            <a:endParaRPr lang="en-US" sz="18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967A09F-8979-36C0-525A-607478CA1A52}"/>
              </a:ext>
            </a:extLst>
          </p:cNvPr>
          <p:cNvSpPr/>
          <p:nvPr/>
        </p:nvSpPr>
        <p:spPr>
          <a:xfrm>
            <a:off x="2651760" y="5633720"/>
            <a:ext cx="64008" cy="7315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B62221A-160D-51FD-95A9-B72AAD76327B}"/>
              </a:ext>
            </a:extLst>
          </p:cNvPr>
          <p:cNvSpPr/>
          <p:nvPr/>
        </p:nvSpPr>
        <p:spPr>
          <a:xfrm>
            <a:off x="2834640" y="5633720"/>
            <a:ext cx="8869680" cy="73152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I briefly worked for Pantheon, in the marketing department.  I never worked on their hosting technology, and I am not privy to their secrets.  This architecture is much simpler and more primitive than what you can get from Pantheon, Acquia, or Platform.sh.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5410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Prometheus Stack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87452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 ↓  80 / 443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286000"/>
            <a:ext cx="9052560" cy="713232"/>
          </a:xfrm>
          <a:prstGeom prst="roundRect">
            <a:avLst>
              <a:gd name="adj" fmla="val 10256"/>
            </a:avLst>
          </a:prstGeom>
          <a:solidFill>
            <a:srgbClr val="BC74EF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edge — TLS · HTTP/3 · routing by hostname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51760" y="3072384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B91E42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Drupal - 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95344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php-fpm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38928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3072384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B91E42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Drupal - 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6096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php-fpm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385876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13264" y="3072384"/>
            <a:ext cx="1591056" cy="713232"/>
          </a:xfrm>
          <a:prstGeom prst="roundRect">
            <a:avLst>
              <a:gd name="adj" fmla="val 10256"/>
            </a:avLst>
          </a:prstGeom>
          <a:solidFill>
            <a:srgbClr val="B91E42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sites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13264" y="3858768"/>
            <a:ext cx="1591056" cy="713232"/>
          </a:xfrm>
          <a:prstGeom prst="roundRect">
            <a:avLst>
              <a:gd name="adj" fmla="val 10256"/>
            </a:avLst>
          </a:prstGeom>
          <a:solidFill>
            <a:srgbClr val="6A94A1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 · cron · 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4645152"/>
            <a:ext cx="9052560" cy="713232"/>
          </a:xfrm>
          <a:prstGeom prst="roundRect">
            <a:avLst>
              <a:gd name="adj" fmla="val 10256"/>
            </a:avLst>
          </a:prstGeom>
          <a:solidFill>
            <a:srgbClr val="5A6FA6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(Compose)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51760" y="5431536"/>
            <a:ext cx="9052560" cy="713232"/>
          </a:xfrm>
          <a:prstGeom prst="roundRect">
            <a:avLst>
              <a:gd name="adj" fmla="val 10256"/>
            </a:avLst>
          </a:prstGeom>
          <a:solidFill>
            <a:srgbClr val="3C3C3C"/>
          </a:solidFill>
          <a:ln w="2540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— Ubuntu / Debian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51760" y="6254496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edge · one isolated stack per site · all driven by prm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6085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LOCALLY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DIY Cloud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CLUSTER OPTIONS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350008"/>
            <a:ext cx="4297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251460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one-click enable, great for getting started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+ Colima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smaller client + command wrapper, more stable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classic, full-featured, runs a VM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Kubernetes in Docker, no VM needed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k3d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lightweight k3s in Docker, very fast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image: 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it into the cluster: 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push localhost:5000/myapp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your manifests: 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apply -f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Port-forward to test: </a:t>
            </a: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port-forward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29158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I KNOW YOU'RE ASKING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About DDEV &amp; Lando?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9052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DDEV and Lando are excellent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purpose-built for Drupal local dev, zero config friction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not competitors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Kubernetes — they run Docker under the hood anyway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DDEV/Lando for day-to-day development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Xdebug, drush, Mailhog — it all just works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Kubernetes for staging and production</a:t>
            </a: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 when you need to test your deployment config locally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4892040"/>
            <a:ext cx="64008" cy="8229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4892040"/>
            <a:ext cx="8869680" cy="82296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answer: </a:t>
            </a: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keep using DDEV. Kubernetes lives at the deployment layer, not the developer laptop layer.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56111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Deploying with prm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the VPS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Docker, firewall, swap, auto-updates (once)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edge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Caddy takes 80/443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site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type + size, secrets generated for you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db up → drush deploy → up → restart php</a:t>
            </a:r>
            <a:endParaRPr lang="en-US" sz="1600" dirty="0"/>
          </a:p>
          <a:p>
            <a:pPr marL="330200" indent="-3302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the edge</a:t>
            </a: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Let's Encrypt issues the cert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1965960"/>
            <a:ext cx="4846320" cy="4206240"/>
          </a:xfrm>
          <a:prstGeom prst="rect">
            <a:avLst/>
          </a:prstGeom>
          <a:solidFill>
            <a:srgbClr val="F4F4F4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VPS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./scripts/bootstrap-vps.sh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prm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 up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prm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blog blog.example.com \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--type drupal --size small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every release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&amp;&amp; </a:t>
            </a: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prm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blog deploy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prm</a:t>
            </a:r>
            <a:r>
              <a:rPr lang="en-US" sz="14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 reload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9955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89273-C636-D39B-1C88-B369DAA9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D3D661-4508-E8C7-0F8D-DFA94CC4B68C}"/>
              </a:ext>
            </a:extLst>
          </p:cNvPr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FDFC6E-A606-EF01-1D6D-57D0F2EBB583}"/>
              </a:ext>
            </a:extLst>
          </p:cNvPr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B6475D-5DF1-766A-AAAE-2D4D5890FE99}"/>
              </a:ext>
            </a:extLst>
          </p:cNvPr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5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BB0CBE-3F41-B55E-6E3F-A79E956FB768}"/>
              </a:ext>
            </a:extLst>
          </p:cNvPr>
          <p:cNvSpPr/>
          <p:nvPr/>
        </p:nvSpPr>
        <p:spPr>
          <a:xfrm>
            <a:off x="2651760" y="201168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Time</a:t>
            </a:r>
            <a:endParaRPr lang="en-US" sz="6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9FABF4-BD24-D7ED-C25B-5048A7FE7A97}"/>
              </a:ext>
            </a:extLst>
          </p:cNvPr>
          <p:cNvSpPr/>
          <p:nvPr/>
        </p:nvSpPr>
        <p:spPr>
          <a:xfrm>
            <a:off x="2651760" y="3657600"/>
            <a:ext cx="64008" cy="73152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828884-6912-7A9F-CCAB-2CFD69B258EF}"/>
              </a:ext>
            </a:extLst>
          </p:cNvPr>
          <p:cNvSpPr/>
          <p:nvPr/>
        </p:nvSpPr>
        <p:spPr>
          <a:xfrm>
            <a:off x="2834640" y="3657600"/>
            <a:ext cx="6217920" cy="731520"/>
          </a:xfrm>
          <a:prstGeom prst="rect">
            <a:avLst/>
          </a:prstGeom>
          <a:solidFill>
            <a:srgbClr val="FFF4F0"/>
          </a:solidFill>
          <a:ln/>
        </p:spPr>
        <p:txBody>
          <a:bodyPr wrap="square" lIns="127000" tIns="127000" rIns="127000" bIns="127000" rtlCol="0" anchor="ctr"/>
          <a:lstStyle/>
          <a:p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it doesn’t work: </a:t>
            </a: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https://youtu.be/FRIldVYCVGY</a:t>
            </a:r>
            <a:r>
              <a:rPr lang="en-US" sz="16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417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457200"/>
            <a:ext cx="0" cy="5943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949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>
                <a:solidFill>
                  <a:srgbClr val="DDDD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1760" y="457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WRAP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9052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</a:t>
            </a:r>
            <a:endParaRPr lang="en-US" sz="6600" dirty="0"/>
          </a:p>
          <a:p>
            <a:pPr marL="0" indent="0">
              <a:buNone/>
            </a:pPr>
            <a:r>
              <a:rPr lang="en-US" sz="6600" i="1" dirty="0">
                <a:solidFill>
                  <a:srgbClr val="FF3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2651760" y="3108960"/>
            <a:ext cx="822960" cy="54864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33832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I'll be around after the session — find me, or reach out online.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402336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— </a:t>
            </a:r>
            <a:r>
              <a:rPr lang="en-US" sz="1600" u="sng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github.com/koppieesq/prometheus</a:t>
            </a:r>
            <a:endParaRPr lang="en-US" sz="16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Drupal.org — </a:t>
            </a:r>
            <a:r>
              <a:rPr lang="en-US" sz="1600" u="sng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drupal.org/u/koppie</a:t>
            </a:r>
            <a:endParaRPr lang="en-US" sz="1600" dirty="0"/>
          </a:p>
          <a:p>
            <a:pPr marL="279400" indent="-279400">
              <a:spcAft>
                <a:spcPts val="800"/>
              </a:spcAft>
              <a:buSzPct val="100000"/>
              <a:buChar char="■"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is hiring! — </a:t>
            </a:r>
            <a:r>
              <a:rPr lang="en-US" sz="1600" u="sng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tesla.com/careers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603504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Koplowicz  ·  BADCamp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393</TotalTime>
  <Words>1733</Words>
  <Application>Microsoft Macintosh PowerPoint</Application>
  <PresentationFormat>Widescreen</PresentationFormat>
  <Paragraphs>254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— BADCamp 2026</dc:title>
  <dc:subject>PptxGenJS Presentation</dc:subject>
  <dc:creator>Jordan Koplowicz</dc:creator>
  <cp:lastModifiedBy>Jordan Koplowicz</cp:lastModifiedBy>
  <cp:revision>25</cp:revision>
  <dcterms:created xsi:type="dcterms:W3CDTF">2026-10-23T16:42:21Z</dcterms:created>
  <dcterms:modified xsi:type="dcterms:W3CDTF">2026-10-26T20:23:35Z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494b15-2884-42b7-a283-b08ec0f18ca1_Enabled">
    <vt:lpwstr>true</vt:lpwstr>
  </property>
  <property fmtid="{D5CDD505-2E9C-101B-9397-08002B2CF9AE}" pid="3" name="MSIP_Label_68494b15-2884-42b7-a283-b08ec0f18ca1_SetDate">
    <vt:lpwstr>2026-10-23T16:48:13Z</vt:lpwstr>
  </property>
  <property fmtid="{D5CDD505-2E9C-101B-9397-08002B2CF9AE}" pid="4" name="MSIP_Label_68494b15-2884-42b7-a283-b08ec0f18ca1_Method">
    <vt:lpwstr>Privileged</vt:lpwstr>
  </property>
  <property fmtid="{D5CDD505-2E9C-101B-9397-08002B2CF9AE}" pid="5" name="MSIP_Label_68494b15-2884-42b7-a283-b08ec0f18ca1_Name">
    <vt:lpwstr>Public</vt:lpwstr>
  </property>
  <property fmtid="{D5CDD505-2E9C-101B-9397-08002B2CF9AE}" pid="6" name="MSIP_Label_68494b15-2884-42b7-a283-b08ec0f18ca1_SiteId">
    <vt:lpwstr>9026c5f4-86d0-4b9f-bd39-b7d4d0fb4674</vt:lpwstr>
  </property>
  <property fmtid="{D5CDD505-2E9C-101B-9397-08002B2CF9AE}" pid="7" name="MSIP_Label_68494b15-2884-42b7-a283-b08ec0f18ca1_ActionId">
    <vt:lpwstr>c849ac4d-58c7-4eeb-a69f-e33a6476501c</vt:lpwstr>
  </property>
  <property fmtid="{D5CDD505-2E9C-101B-9397-08002B2CF9AE}" pid="8" name="MSIP_Label_68494b15-2884-42b7-a283-b08ec0f18ca1_ContentBits">
    <vt:lpwstr>0</vt:lpwstr>
  </property>
  <property fmtid="{D5CDD505-2E9C-101B-9397-08002B2CF9AE}" pid="9" name="MSIP_Label_68494b15-2884-42b7-a283-b08ec0f18ca1_Tag">
    <vt:lpwstr>50, 0, 1, 1</vt:lpwstr>
  </property>
</Properties>
</file>